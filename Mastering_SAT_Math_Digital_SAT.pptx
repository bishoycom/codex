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Module 1</c:v>
                </c:pt>
                <c:pt idx="1">
                  <c:v>Module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Recommended Minutes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Easy</c:v>
                </c:pt>
                <c:pt idx="1">
                  <c:v>Medium</c:v>
                </c:pt>
                <c:pt idx="2">
                  <c:v>Hard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students and parents. Set the tone: SAT Math success comes from strategy + repetition.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adaptive structure and equal module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 each question live. Ask students to justify each elimination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Mastering SAT Math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Strategies, Concepts, and Practice for the Digital SAT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731520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926080" y="731520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754880" y="731520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0" y="731520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0" y="731520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1280" y="731520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What is the Digital SAT?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669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100"/>
              </a:spcAft>
              <a:defRPr sz="2000">
                <a:solidFill>
                  <a:srgbClr val="0F2043"/>
                </a:solidFill>
              </a:defRPr>
            </a:pPr>
            <a:r>
              <a:t>College admissions test accepted by most U.S. universities</a:t>
            </a:r>
          </a:p>
          <a:p>
            <a:pPr>
              <a:spcAft>
                <a:spcPts val="1100"/>
              </a:spcAft>
              <a:defRPr sz="2000">
                <a:solidFill>
                  <a:srgbClr val="0F2043"/>
                </a:solidFill>
              </a:defRPr>
            </a:pPr>
            <a:r>
              <a:t>Fully digital format taken on a laptop/tablet</a:t>
            </a:r>
          </a:p>
          <a:p>
            <a:pPr>
              <a:spcAft>
                <a:spcPts val="1100"/>
              </a:spcAft>
              <a:defRPr sz="2000">
                <a:solidFill>
                  <a:srgbClr val="0F2043"/>
                </a:solidFill>
              </a:defRPr>
            </a:pPr>
            <a:r>
              <a:t>Adaptive: Module 2 difficulty depends on Module 1 performance</a:t>
            </a:r>
          </a:p>
          <a:p>
            <a:pPr>
              <a:spcAft>
                <a:spcPts val="1100"/>
              </a:spcAft>
              <a:defRPr sz="2000">
                <a:solidFill>
                  <a:srgbClr val="0F2043"/>
                </a:solidFill>
              </a:defRPr>
            </a:pPr>
            <a:r>
              <a:t>Math section: 2 modules, 35 min each, 44 questions total</a:t>
            </a:r>
          </a:p>
          <a:p>
            <a:pPr>
              <a:spcAft>
                <a:spcPts val="1100"/>
              </a:spcAft>
              <a:defRPr sz="2000">
                <a:solidFill>
                  <a:srgbClr val="0F2043"/>
                </a:solidFill>
              </a:defRPr>
            </a:pPr>
            <a:r>
              <a:t>Built-in Desmos graphing calculator for all math questions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675120" y="1554480"/>
          <a:ext cx="493776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SAT Math Topics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0F2043"/>
                </a:solidFill>
              </a:defRPr>
            </a:pPr>
            <a:r>
              <a:t>📘 Algebra</a:t>
            </a:r>
          </a:p>
          <a:p>
            <a:pPr>
              <a:defRPr sz="1600">
                <a:solidFill>
                  <a:srgbClr val="5A626C"/>
                </a:solidFill>
              </a:defRPr>
            </a:pPr>
            <a:r>
              <a:t>Linear equations, systems, inequalities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0F2043"/>
                </a:solidFill>
              </a:defRPr>
            </a:pPr>
            <a:r>
              <a:t>📗 Advanced Math</a:t>
            </a:r>
          </a:p>
          <a:p>
            <a:pPr>
              <a:defRPr sz="1600">
                <a:solidFill>
                  <a:srgbClr val="5A626C"/>
                </a:solidFill>
              </a:defRPr>
            </a:pPr>
            <a:r>
              <a:t>Quadratics, exponents, nonlinear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0F2043"/>
                </a:solidFill>
              </a:defRPr>
            </a:pPr>
            <a:r>
              <a:t>📊 Problem Solving &amp; Data</a:t>
            </a:r>
          </a:p>
          <a:p>
            <a:pPr>
              <a:defRPr sz="1600">
                <a:solidFill>
                  <a:srgbClr val="5A626C"/>
                </a:solidFill>
              </a:defRPr>
            </a:pPr>
            <a:r>
              <a:t>Ratios, percentages, statistics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840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0F2043"/>
                </a:solidFill>
              </a:defRPr>
            </a:pPr>
            <a:r>
              <a:t>📐 Geometry &amp; Trig</a:t>
            </a:r>
          </a:p>
          <a:p>
            <a:pPr>
              <a:defRPr sz="1600">
                <a:solidFill>
                  <a:srgbClr val="5A626C"/>
                </a:solidFill>
              </a:defRPr>
            </a:pPr>
            <a:r>
              <a:t>Angles, circles, area, right triangles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Most Important SAT Math Formulas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80160"/>
            <a:ext cx="107899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0F2043"/>
                </a:solidFill>
              </a:defRPr>
            </a:pPr>
            <a:r>
              <a:t>Linear: y = mx +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107899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0F2043"/>
                </a:solidFill>
              </a:defRPr>
            </a:pPr>
            <a:r>
              <a:t>Slope: m = (y₂ - y₁)/(x₂ - x₁)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26080"/>
            <a:ext cx="107899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0F2043"/>
                </a:solidFill>
              </a:defRPr>
            </a:pPr>
            <a:r>
              <a:t>Quadratic: x = (-b ± √(b²-4ac))/2a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49039"/>
            <a:ext cx="107899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0F2043"/>
                </a:solidFill>
              </a:defRPr>
            </a:pPr>
            <a:r>
              <a:t>Circle: C = 2πr,  A = πr²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107899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0F2043"/>
                </a:solidFill>
              </a:defRPr>
            </a:pPr>
            <a:r>
              <a:t>Area: A=lw,  A=½bh,  A=πr²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394960"/>
            <a:ext cx="107899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0F2043"/>
                </a:solidFill>
              </a:defRPr>
            </a:pPr>
            <a:r>
              <a:t>Volume: V=lwh,  V=πr²h,  V=(4/3)πr³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Calculator vs Mental Math Strategies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Use mental math for simple arithmetic and percent changes</a:t>
            </a:r>
          </a:p>
          <a:p>
            <a:pPr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Use Desmos for intersections, roots, and visual checks</a:t>
            </a:r>
          </a:p>
          <a:p>
            <a:pPr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Estimate first to catch impossible answer choices</a:t>
            </a:r>
          </a:p>
          <a:p>
            <a:pPr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Avoid over-calculating: set up algebra before graphing</a:t>
            </a:r>
          </a:p>
          <a:p>
            <a:pPr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Common mistakes: wrong mode, typo inputs, rounding too early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49377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No-calculator style habits still matter:</a:t>
            </a:r>
          </a:p>
          <a:p>
            <a:pPr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• Fraction/decimal fluency</a:t>
            </a:r>
          </a:p>
          <a:p>
            <a:pPr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• Factoring patterns</a:t>
            </a:r>
          </a:p>
          <a:p>
            <a:pPr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• Power rules</a:t>
            </a:r>
          </a:p>
          <a:p>
            <a:pPr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• Unit conversion speed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SAT Math Time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669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100"/>
              </a:spcAft>
              <a:defRPr sz="1900">
                <a:solidFill>
                  <a:srgbClr val="0F2043"/>
                </a:solidFill>
              </a:defRPr>
            </a:pPr>
            <a:r>
              <a:t>Pacing target: ~1.5 minutes/question</a:t>
            </a:r>
          </a:p>
          <a:p>
            <a:pPr>
              <a:spcAft>
                <a:spcPts val="1100"/>
              </a:spcAft>
              <a:defRPr sz="1900">
                <a:solidFill>
                  <a:srgbClr val="0F2043"/>
                </a:solidFill>
              </a:defRPr>
            </a:pPr>
            <a:r>
              <a:t>First pass: easy wins in first 12–15 minutes</a:t>
            </a:r>
          </a:p>
          <a:p>
            <a:pPr>
              <a:spcAft>
                <a:spcPts val="1100"/>
              </a:spcAft>
              <a:defRPr sz="1900">
                <a:solidFill>
                  <a:srgbClr val="0F2043"/>
                </a:solidFill>
              </a:defRPr>
            </a:pPr>
            <a:r>
              <a:t>Second pass: medium questions with setup time</a:t>
            </a:r>
          </a:p>
          <a:p>
            <a:pPr>
              <a:spcAft>
                <a:spcPts val="1100"/>
              </a:spcAft>
              <a:defRPr sz="1900">
                <a:solidFill>
                  <a:srgbClr val="0F2043"/>
                </a:solidFill>
              </a:defRPr>
            </a:pPr>
            <a:r>
              <a:t>Final pass: hard questions + informed guesses</a:t>
            </a:r>
          </a:p>
          <a:p>
            <a:pPr>
              <a:spcAft>
                <a:spcPts val="1100"/>
              </a:spcAft>
              <a:defRPr sz="1900">
                <a:solidFill>
                  <a:srgbClr val="0F2043"/>
                </a:solidFill>
              </a:defRPr>
            </a:pPr>
            <a:r>
              <a:t>Flag questions with long algebra or dense wording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83680" y="1645920"/>
          <a:ext cx="51206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Common SAT Math Tricks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669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100"/>
              </a:spcAft>
              <a:defRPr sz="1900">
                <a:solidFill>
                  <a:srgbClr val="0F2043"/>
                </a:solidFill>
              </a:defRPr>
            </a:pPr>
            <a:r>
              <a:t>Plug in numbers for variable-heavy word problems</a:t>
            </a:r>
          </a:p>
          <a:p>
            <a:pPr>
              <a:spcAft>
                <a:spcPts val="1100"/>
              </a:spcAft>
              <a:defRPr sz="1900">
                <a:solidFill>
                  <a:srgbClr val="0F2043"/>
                </a:solidFill>
              </a:defRPr>
            </a:pPr>
            <a:r>
              <a:t>Backsolve from answer choices (start with middle choice)</a:t>
            </a:r>
          </a:p>
          <a:p>
            <a:pPr>
              <a:spcAft>
                <a:spcPts val="1100"/>
              </a:spcAft>
              <a:defRPr sz="1900">
                <a:solidFill>
                  <a:srgbClr val="0F2043"/>
                </a:solidFill>
              </a:defRPr>
            </a:pPr>
            <a:r>
              <a:t>Estimate to eliminate outliers quickly</a:t>
            </a:r>
          </a:p>
          <a:p>
            <a:pPr>
              <a:spcAft>
                <a:spcPts val="1100"/>
              </a:spcAft>
              <a:defRPr sz="1900">
                <a:solidFill>
                  <a:srgbClr val="0F2043"/>
                </a:solidFill>
              </a:defRPr>
            </a:pPr>
            <a:r>
              <a:t>Use answer choice patterns (equivalent forms)</a:t>
            </a:r>
          </a:p>
          <a:p>
            <a:pPr>
              <a:spcAft>
                <a:spcPts val="1100"/>
              </a:spcAft>
              <a:defRPr sz="1900">
                <a:solidFill>
                  <a:srgbClr val="0F2043"/>
                </a:solidFill>
              </a:defRPr>
            </a:pPr>
            <a:r>
              <a:t>Example: If 3x+2=20, choices 4,5,6,7 → x=6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SAT Practice Questions (with Solutions)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100"/>
              </a:spcAft>
              <a:defRPr sz="1600">
                <a:solidFill>
                  <a:srgbClr val="0F2043"/>
                </a:solidFill>
              </a:defRPr>
            </a:pPr>
            <a:r>
              <a:t>1) If 2x+5=19, x=?  A)5 B)6 C)7 D)8  → x=7</a:t>
            </a:r>
          </a:p>
          <a:p>
            <a:pPr>
              <a:spcAft>
                <a:spcPts val="1100"/>
              </a:spcAft>
              <a:defRPr sz="1600">
                <a:solidFill>
                  <a:srgbClr val="0F2043"/>
                </a:solidFill>
              </a:defRPr>
            </a:pPr>
            <a:r>
              <a:t>2) y=3x-4; find y when x=6. A)10 B)12 C)14 D)16 → y=14</a:t>
            </a:r>
          </a:p>
          <a:p>
            <a:pPr>
              <a:spcAft>
                <a:spcPts val="1100"/>
              </a:spcAft>
              <a:defRPr sz="1600">
                <a:solidFill>
                  <a:srgbClr val="0F2043"/>
                </a:solidFill>
              </a:defRPr>
            </a:pPr>
            <a:r>
              <a:t>3) x²-9x+20=0. A)4 or 5 B)2 or 10 C)-4 or -5 D)1 or 20 → 4,5</a:t>
            </a:r>
          </a:p>
          <a:p>
            <a:pPr>
              <a:spcAft>
                <a:spcPts val="1100"/>
              </a:spcAft>
              <a:defRPr sz="1600">
                <a:solidFill>
                  <a:srgbClr val="0F2043"/>
                </a:solidFill>
              </a:defRPr>
            </a:pPr>
            <a:r>
              <a:t>4) Circle radius 3: area=? A)6π B)9π C)12π D)18π → 9π</a:t>
            </a:r>
          </a:p>
          <a:p>
            <a:pPr>
              <a:spcAft>
                <a:spcPts val="1100"/>
              </a:spcAft>
              <a:defRPr sz="1600">
                <a:solidFill>
                  <a:srgbClr val="0F2043"/>
                </a:solidFill>
              </a:defRPr>
            </a:pPr>
            <a:r>
              <a:t>5) Data set 2,4,4,6,8 median=? A)4 B)4.8 C)5 D)6 →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Digital SAT Desmos Calculator Guide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486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Graph equations quickly: y= forms and inequalities</a:t>
            </a:r>
          </a:p>
          <a:p>
            <a:pPr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Find intersections by clicking crossing points</a:t>
            </a:r>
          </a:p>
          <a:p>
            <a:pPr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Use tables to test values and patterns</a:t>
            </a:r>
          </a:p>
          <a:p>
            <a:pPr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Sliders visualize parameter changes</a:t>
            </a:r>
          </a:p>
          <a:p>
            <a:pPr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Check domain/range to avoid extraneous roots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280160"/>
            <a:ext cx="53035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0F2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F2043"/>
                </a:solidFill>
              </a:defRPr>
            </a:pPr>
            <a:r>
              <a:t>Desmos Mockup</a:t>
            </a:r>
            <a:br/>
            <a:br/>
            <a:r>
              <a:t>y=x^2-4</a:t>
            </a:r>
            <a:br/>
            <a:r>
              <a:t>y=2x</a:t>
            </a:r>
            <a:br/>
            <a:br/>
            <a:r>
              <a:t>Intersection: ( -1.24, -2.48 ) and (3.24, 6.48 )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Common Student Mistakes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669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100"/>
              </a:spcAft>
              <a:defRPr sz="1900">
                <a:solidFill>
                  <a:srgbClr val="0F2043"/>
                </a:solidFill>
              </a:defRPr>
            </a:pPr>
            <a:r>
              <a:t>Misreading what the question asks (value vs expression)</a:t>
            </a:r>
          </a:p>
          <a:p>
            <a:pPr>
              <a:spcAft>
                <a:spcPts val="1100"/>
              </a:spcAft>
              <a:defRPr sz="1900">
                <a:solidFill>
                  <a:srgbClr val="0F2043"/>
                </a:solidFill>
              </a:defRPr>
            </a:pPr>
            <a:r>
              <a:t>Sign errors with negatives and distribution</a:t>
            </a:r>
          </a:p>
          <a:p>
            <a:pPr>
              <a:spcAft>
                <a:spcPts val="1100"/>
              </a:spcAft>
              <a:defRPr sz="1900">
                <a:solidFill>
                  <a:srgbClr val="0F2043"/>
                </a:solidFill>
              </a:defRPr>
            </a:pPr>
            <a:r>
              <a:t>Unit mistakes (inches vs feet, percent vs decimal)</a:t>
            </a:r>
          </a:p>
          <a:p>
            <a:pPr>
              <a:spcAft>
                <a:spcPts val="1100"/>
              </a:spcAft>
              <a:defRPr sz="1900">
                <a:solidFill>
                  <a:srgbClr val="0F2043"/>
                </a:solidFill>
              </a:defRPr>
            </a:pPr>
            <a:r>
              <a:t>Spending too long on one difficult problem</a:t>
            </a:r>
          </a:p>
          <a:p>
            <a:pPr>
              <a:spcAft>
                <a:spcPts val="1100"/>
              </a:spcAft>
              <a:defRPr sz="1900">
                <a:solidFill>
                  <a:srgbClr val="0F2043"/>
                </a:solidFill>
              </a:defRPr>
            </a:pPr>
            <a:r>
              <a:t>Skipping final answer reasonableness check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SAT Study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669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1-Month Plan: 5 days/week, 60–90 min/day, topic sprints</a:t>
            </a:r>
          </a:p>
          <a:p>
            <a:pPr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3-Month Plan: concept phase → mixed sets → full tests</a:t>
            </a:r>
          </a:p>
          <a:p>
            <a:pPr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Weekly: 2 concept days, 2 drill days, 1 timed module day</a:t>
            </a:r>
          </a:p>
          <a:p>
            <a:pPr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Daily: 10 warm-up Qs + 20 targeted Qs + review mistakes</a:t>
            </a:r>
          </a:p>
          <a:p>
            <a:pPr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Track errors by category in an error 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Best SAT Resources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669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Khan Academy Official SAT Practice</a:t>
            </a:r>
          </a:p>
          <a:p>
            <a:pPr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College Board Bluebook app + question bank</a:t>
            </a:r>
          </a:p>
          <a:p>
            <a:pPr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Official full-length practice tests</a:t>
            </a:r>
          </a:p>
          <a:p>
            <a:pPr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YouTube: Scalar Learning, John Jung, SuperTutorTV</a:t>
            </a:r>
          </a:p>
          <a:p>
            <a:pPr>
              <a:spcAft>
                <a:spcPts val="1100"/>
              </a:spcAft>
              <a:defRPr sz="1800">
                <a:solidFill>
                  <a:srgbClr val="0F2043"/>
                </a:solidFill>
              </a:defRPr>
            </a:pPr>
            <a:r>
              <a:t>Apps/Sites: UWorld, Quizlet SAT decks, Desmos tutorials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5840" y="1371600"/>
            <a:ext cx="101498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0F2043"/>
                </a:solidFill>
              </a:defRPr>
            </a:pPr>
            <a:r>
              <a:t>“Success is the sum of small efforts, repeated day in and day out.”</a:t>
            </a:r>
          </a:p>
          <a:p>
            <a:pPr algn="ctr">
              <a:defRPr sz="2000">
                <a:solidFill>
                  <a:srgbClr val="5A626C"/>
                </a:solidFill>
              </a:defRPr>
            </a:pPr>
            <a:r>
              <a:t>— Robert Collier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011680"/>
            <a:ext cx="6217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F2043"/>
                </a:solidFill>
              </a:defRPr>
            </a:pPr>
            <a:r>
              <a:t>Questions?</a:t>
            </a:r>
          </a:p>
          <a:p>
            <a:pPr algn="ctr">
              <a:defRPr sz="2000">
                <a:solidFill>
                  <a:srgbClr val="2196F3"/>
                </a:solidFill>
              </a:defRPr>
            </a:pPr>
            <a:r>
              <a:t>You’ve got this — practice smart and stay consistent.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